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Play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6" roundtripDataSignature="AMtx7mhts4PGcMqYzeYMjs1RU6ywLbmp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lay-bold.fntdata"/><Relationship Id="rId12" Type="http://schemas.openxmlformats.org/officeDocument/2006/relationships/slide" Target="slides/slide7.xml"/><Relationship Id="rId34" Type="http://schemas.openxmlformats.org/officeDocument/2006/relationships/font" Target="fonts/Play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6e22f6bce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c6e22f6bce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6e68f0a9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c6e68f0a9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6e22f6bce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c6e22f6bce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6e68f0a9c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c6e68f0a9c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6e68f0a9c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g3c6e68f0a9c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6e68f0a9c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c6e68f0a9c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6e68f0a9c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3c6e68f0a9c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6e68f0a9c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c6e68f0a9c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6e68f0a9c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3c6e68f0a9c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6e68f0a9c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3c6e68f0a9c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6e68f0a9c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3c6e68f0a9c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6e68f0a9c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g3c6e68f0a9c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6e68f0a9c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g3c6e68f0a9c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6e22f6bce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g3c6e22f6bce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9" name="Google Shape;19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1" name="Google Shape;31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4" name="Google Shape;44;p21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6" name="Google Shape;46;p21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8" name="Google Shape;58;p23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4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4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6" name="Google Shape;66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15"/>
          <p:cNvSpPr txBox="1"/>
          <p:nvPr/>
        </p:nvSpPr>
        <p:spPr>
          <a:xfrm>
            <a:off x="4258866" y="5004435"/>
            <a:ext cx="641747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- RPS Data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87C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18587" l="0" r="-385" t="0"/>
          <a:stretch/>
        </p:blipFill>
        <p:spPr>
          <a:xfrm>
            <a:off x="274670" y="178252"/>
            <a:ext cx="909233" cy="5915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238683" y="1248140"/>
            <a:ext cx="86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366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WIPRO NGA Program – 25SUB4530_CP_JAVA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74700" y="1937550"/>
            <a:ext cx="62595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32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Capstone Project Presentation – 9</a:t>
            </a:r>
            <a:r>
              <a:rPr b="0" baseline="3000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Feb &amp; 10</a:t>
            </a:r>
            <a:r>
              <a:rPr b="0" baseline="3000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Feb   2026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74669" y="4605338"/>
            <a:ext cx="3129701" cy="166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www.rpsconsulting.in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74632" y="3352407"/>
            <a:ext cx="50853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Presented by - 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58674 - Abhinay Matam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58664- Nandyala Siva Sai Danush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74633" y="2458955"/>
            <a:ext cx="50853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32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E-commerce Order Management System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32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32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Batch - 11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Introduction: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5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3318568" y="4813934"/>
            <a:ext cx="4694552" cy="18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04800" y="812450"/>
            <a:ext cx="8521800" cy="3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E-Commerce Order Management System streamlines online shopping by efficiently handling products, orders, and delivery statuses.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application features a responsive Angular frontend, offering distinct dashboards for admins and customers to manage their activities.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 on a robust Spring Boot backend with Spring Data JPA, it ensures secure, reliable, and high-performance data processing.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ensure scalability and high availability, the system is containerized with Docker and deployed on the Azure cloud platform.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capabilities include real-time product inventory management and comprehensive order lifecycle tracking from placement to delivery.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full-stack solution demonstrates modern DevOps practices, combining powerful frameworks to solve real-world retail challenges.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Technologies Used: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204800" y="704725"/>
            <a:ext cx="8521800" cy="3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Angular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TypeScript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HTML &amp; CSS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Spring Boot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Spring Data JPA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Hibernate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DevOps &amp; Deployment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Azure App Service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Implementation: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204800" y="812450"/>
            <a:ext cx="8521800" cy="3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Setup:</a:t>
            </a: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Initialized the Angular frontend and Spring Boot backend to establish the full-stack architecture.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Configuration:</a:t>
            </a: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Configured MySQL and defined JPA entities to model Products, Users, and Order data.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Development:</a:t>
            </a: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Implemented secure REST APIs for authentication, product management, and order processing logic.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 Design:</a:t>
            </a: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Built responsive Angular components for Login, Admin Dashboard, and User Shopping interfaces.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Integration:</a:t>
            </a: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Connected the frontend to backend services using HttpClient to enable real-time data flow.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Deployment:</a:t>
            </a: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Containerized the application with Docker and deployed it to Azure for public accessibility.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Frontend Architecture: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800" y="812450"/>
            <a:ext cx="7949549" cy="395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Backend Architecture: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6"/>
          <p:cNvPicPr preferRelativeResize="0"/>
          <p:nvPr/>
        </p:nvPicPr>
        <p:blipFill rotWithShape="1">
          <a:blip r:embed="rId4">
            <a:alphaModFix/>
          </a:blip>
          <a:srcRect b="3124" l="3481" r="2418" t="2482"/>
          <a:stretch/>
        </p:blipFill>
        <p:spPr>
          <a:xfrm>
            <a:off x="615275" y="702738"/>
            <a:ext cx="7913451" cy="400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Database Implementation: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7"/>
          <p:cNvPicPr preferRelativeResize="0"/>
          <p:nvPr/>
        </p:nvPicPr>
        <p:blipFill rotWithShape="1">
          <a:blip r:embed="rId4">
            <a:alphaModFix/>
          </a:blip>
          <a:srcRect b="0" l="16294" r="8021" t="0"/>
          <a:stretch/>
        </p:blipFill>
        <p:spPr>
          <a:xfrm>
            <a:off x="1814900" y="812450"/>
            <a:ext cx="5364949" cy="398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Docker Implementation: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53" name="Google Shape;1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8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800" y="746525"/>
            <a:ext cx="8310551" cy="402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6e22f6bce_0_26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Docker Implementation: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63" name="Google Shape;163;g3c6e22f6bce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c6e22f6bce_0_26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c6e22f6bce_0_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66" name="Google Shape;166;g3c6e22f6bce_0_26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3c6e22f6bce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800" y="641275"/>
            <a:ext cx="8370948" cy="412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Azure Deployment: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73" name="Google Shape;17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800" y="762425"/>
            <a:ext cx="8245799" cy="400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6e68f0a9c_0_0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Azure Deployment: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83" name="Google Shape;183;g3c6e68f0a9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c6e68f0a9c_0_0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c6e68f0a9c_0_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86" name="Google Shape;186;g3c6e68f0a9c_0_0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g3c6e68f0a9c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800" y="812450"/>
            <a:ext cx="8310552" cy="395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6e22f6bce_0_2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Azure Deployment: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93" name="Google Shape;193;g3c6e22f6bce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c6e22f6bce_0_2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c6e22f6bce_0_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96" name="Google Shape;196;g3c6e22f6bce_0_2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g3c6e22f6bce_0_2" title="Screenshot 2026-02-10 100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00" y="812450"/>
            <a:ext cx="7949549" cy="395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6e68f0a9c_0_11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03" name="Google Shape;203;g3c6e68f0a9c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c6e68f0a9c_0_11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c6e68f0a9c_0_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06" name="Google Shape;206;g3c6e68f0a9c_0_11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g3c6e68f0a9c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800" y="566069"/>
            <a:ext cx="8310550" cy="4201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6e68f0a9c_0_21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13" name="Google Shape;213;g3c6e68f0a9c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c6e68f0a9c_0_21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c6e68f0a9c_0_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16" name="Google Shape;216;g3c6e68f0a9c_0_21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g3c6e68f0a9c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4775" y="593025"/>
            <a:ext cx="5681575" cy="417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6e68f0a9c_0_31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23" name="Google Shape;223;g3c6e68f0a9c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c6e68f0a9c_0_31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c6e68f0a9c_0_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26" name="Google Shape;226;g3c6e68f0a9c_0_31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g3c6e68f0a9c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6550" y="593025"/>
            <a:ext cx="5723351" cy="406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6e68f0a9c_0_41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33" name="Google Shape;233;g3c6e68f0a9c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c6e68f0a9c_0_41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c6e68f0a9c_0_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36" name="Google Shape;236;g3c6e68f0a9c_0_41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g3c6e68f0a9c_0_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4250" y="465675"/>
            <a:ext cx="6040851" cy="406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6e68f0a9c_0_51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43" name="Google Shape;243;g3c6e68f0a9c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c6e68f0a9c_0_51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c6e68f0a9c_0_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46" name="Google Shape;246;g3c6e68f0a9c_0_51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g3c6e68f0a9c_0_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800" y="593025"/>
            <a:ext cx="8276349" cy="417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6e68f0a9c_0_61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53" name="Google Shape;253;g3c6e68f0a9c_0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c6e68f0a9c_0_61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c6e68f0a9c_0_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56" name="Google Shape;256;g3c6e68f0a9c_0_61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g3c6e68f0a9c_0_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800" y="532500"/>
            <a:ext cx="8310551" cy="417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Application Walkthrough:</a:t>
            </a:r>
            <a:endParaRPr b="1" i="0" sz="2400" u="none" cap="none" strike="noStrike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0187CC"/>
              </a:solidFill>
            </a:endParaRPr>
          </a:p>
        </p:txBody>
      </p:sp>
      <p:pic>
        <p:nvPicPr>
          <p:cNvPr descr="Logo&#10;&#10;Description automatically generated" id="263" name="Google Shape;2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0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66" name="Google Shape;266;p10"/>
          <p:cNvSpPr txBox="1"/>
          <p:nvPr/>
        </p:nvSpPr>
        <p:spPr>
          <a:xfrm>
            <a:off x="204800" y="678775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600">
                <a:solidFill>
                  <a:srgbClr val="0187CC"/>
                </a:solidFill>
              </a:rPr>
              <a:t>Login Page:</a:t>
            </a:r>
            <a:endParaRPr b="1" i="0" sz="1600" u="none" cap="none" strike="noStrike">
              <a:solidFill>
                <a:srgbClr val="0187CC"/>
              </a:solidFill>
            </a:endParaRPr>
          </a:p>
        </p:txBody>
      </p:sp>
      <p:pic>
        <p:nvPicPr>
          <p:cNvPr id="267" name="Google Shape;26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00" y="1080125"/>
            <a:ext cx="8160802" cy="368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6e68f0a9c_0_81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Application Walkthrough:</a:t>
            </a:r>
            <a:endParaRPr b="1" i="0" sz="2400" u="none" cap="none" strike="noStrike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0187CC"/>
              </a:solidFill>
            </a:endParaRPr>
          </a:p>
        </p:txBody>
      </p:sp>
      <p:pic>
        <p:nvPicPr>
          <p:cNvPr descr="Logo&#10;&#10;Description automatically generated" id="273" name="Google Shape;273;g3c6e68f0a9c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c6e68f0a9c_0_81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c6e68f0a9c_0_8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76" name="Google Shape;276;g3c6e68f0a9c_0_81"/>
          <p:cNvSpPr txBox="1"/>
          <p:nvPr/>
        </p:nvSpPr>
        <p:spPr>
          <a:xfrm>
            <a:off x="204800" y="678775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600">
                <a:solidFill>
                  <a:srgbClr val="0187CC"/>
                </a:solidFill>
              </a:rPr>
              <a:t>Registration </a:t>
            </a:r>
            <a:r>
              <a:rPr b="1" lang="en-GB" sz="1600">
                <a:solidFill>
                  <a:srgbClr val="0187CC"/>
                </a:solidFill>
              </a:rPr>
              <a:t>Page:</a:t>
            </a:r>
            <a:endParaRPr b="1" i="0" sz="1600" u="none" cap="none" strike="noStrike">
              <a:solidFill>
                <a:srgbClr val="0187CC"/>
              </a:solidFill>
            </a:endParaRPr>
          </a:p>
        </p:txBody>
      </p:sp>
      <p:pic>
        <p:nvPicPr>
          <p:cNvPr id="277" name="Google Shape;277;g3c6e68f0a9c_0_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00" y="1080125"/>
            <a:ext cx="8160802" cy="3639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Admin Dashboard: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83" name="Google Shape;2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1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86" name="Google Shape;286;p11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800" y="812450"/>
            <a:ext cx="8310548" cy="395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6e68f0a9c_0_71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Admin Dashboard: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93" name="Google Shape;293;g3c6e68f0a9c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c6e68f0a9c_0_71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c6e68f0a9c_0_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96" name="Google Shape;296;g3c6e68f0a9c_0_71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g3c6e68f0a9c_0_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800" y="762425"/>
            <a:ext cx="8310551" cy="400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User Dashboard: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03" name="Google Shape;3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2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800" y="724000"/>
            <a:ext cx="8310551" cy="3901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6e68f0a9c_0_91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User Dashboard: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13" name="Google Shape;313;g3c6e68f0a9c_0_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c6e68f0a9c_0_91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c6e68f0a9c_0_9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16" name="Google Shape;316;g3c6e68f0a9c_0_91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g3c6e68f0a9c_0_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800" y="712300"/>
            <a:ext cx="8310549" cy="405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c6e68f0a9c_0_100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User Dashboard: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23" name="Google Shape;323;g3c6e68f0a9c_0_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c6e68f0a9c_0_100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c6e68f0a9c_0_10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26" name="Google Shape;326;g3c6e68f0a9c_0_100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g3c6e68f0a9c_0_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800" y="879400"/>
            <a:ext cx="8310549" cy="388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6e22f6bce_0_15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GB" sz="2400">
                <a:solidFill>
                  <a:srgbClr val="0187CC"/>
                </a:solidFill>
              </a:rPr>
              <a:t>Git Deployment</a:t>
            </a: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33" name="Google Shape;333;g3c6e22f6bce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3c6e22f6bce_0_15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c6e22f6bce_0_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36" name="Google Shape;336;g3c6e22f6bce_0_15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g3c6e22f6bce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800" y="812450"/>
            <a:ext cx="8310550" cy="395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Outcome: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43" name="Google Shape;3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3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46" name="Google Shape;346;p13"/>
          <p:cNvSpPr txBox="1"/>
          <p:nvPr/>
        </p:nvSpPr>
        <p:spPr>
          <a:xfrm>
            <a:off x="204800" y="812450"/>
            <a:ext cx="8521800" cy="27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0" i="0" lang="en-GB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Full-Stack Proficiency: Successfully built and integrated a complete web application using Angular (Frontend) and Spring Boot (Backend).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0" i="0" lang="en-GB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 Deployment: Demonstrated cloud readiness by deploying the system on Azure App Service, ensuring accessibility and high availability.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0" i="0" lang="en-GB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Secure Architecture: Implemented Role-Based Access Control (RBAC) to secure sensitive administrative data while providing a seamless shopping experience for users.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0" i="0" lang="en-GB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Real-World Simulation: Delivered a functional E-Commerce platform that handles the complete order lifecycle, solving practical business requirements.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Conclusion: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52" name="Google Shape;3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4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55" name="Google Shape;355;p14"/>
          <p:cNvSpPr txBox="1"/>
          <p:nvPr/>
        </p:nvSpPr>
        <p:spPr>
          <a:xfrm>
            <a:off x="204800" y="812450"/>
            <a:ext cx="85218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GB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Mission Accomplished:</a:t>
            </a:r>
            <a:r>
              <a:rPr b="0" i="0" lang="en-GB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project successfully delivers a robust, end-to-end E-Commerce solution, bridging the gap between product management and customer satisfaction.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GB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Architecture:</a:t>
            </a:r>
            <a:r>
              <a:rPr b="0" i="0" lang="en-GB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leveraging Angular, Spring Boot, and Azure, the system is built on industry-standard technologies that ensure performance, security, and scalability.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GB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Future-Ready:</a:t>
            </a:r>
            <a:r>
              <a:rPr b="0" i="0" lang="en-GB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modular design allows for easy integration of advanced features like AI-driven recommendations and multiple payment gateways in future updates.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GB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Closing thought:</a:t>
            </a:r>
            <a:r>
              <a:rPr b="0" i="0" lang="en-GB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"This project not only solidified my full-stack development skills but also provided a scalable platform ready for real-world deployment."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